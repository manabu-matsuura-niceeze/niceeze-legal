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0"/>
            <a:ext cx="66751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FFFFF"/>
                </a:solidFill>
              </a:rPr>
              <a:t>GOV部 UI設計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6675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F5A623"/>
                </a:solidFill>
              </a:rPr>
              <a:t>COO経営支援・監査システム部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566160"/>
            <a:ext cx="6675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F0F4F8"/>
                </a:solidFill>
              </a:rPr>
              <a:t>v1.0  |  2026-06-05  |  © 2026 株式会社NiceEze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389120"/>
            <a:ext cx="66751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5A623"/>
                </a:solidFill>
              </a:rPr>
              <a:t>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</a:rPr>
              <a:t>S10 COO業務報告ダッシュボード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006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KPIカード / 予実グラフ / PMOタスク一覧 / 月次レポートボタン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5577840"/>
            <a:ext cx="66751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5A623"/>
                </a:solidFill>
              </a:rPr>
              <a:t>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</a:rPr>
              <a:t>FinOps監視画面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98932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1配送コスト / 月額累計 / 警告ライン / リアルタイム更新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766560"/>
            <a:ext cx="66751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8580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5A623"/>
                </a:solidFill>
              </a:rPr>
              <a:t>S4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681228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</a:rPr>
              <a:t>AIガバナンス台帳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71780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Claude API使用ログ / Gate承認履歴 / CEO判断記録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7955280"/>
            <a:ext cx="66751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80467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5A623"/>
                </a:solidFill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800100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FFFFFF"/>
                </a:solidFill>
              </a:rPr>
              <a:t>LAYOUT_MASTER準拠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83667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font-mono tabular-nums / #1A2B4C/#E8A020 / CI/CDバッジ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S10 COO業務報告ダッシュボード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KPIカード(目標vs実績) / 予実グラフ / PMOタスク一覧 / 月次レポートボタン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UI設計 v1.0  |  COO経営支援・監査システム部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949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LAYOUT_MASTER準拠 — font-mono tabular-nums tracking-tight（全数値）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694944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KPIカード（目標 vs 実績）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051560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ISMS適合率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6187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59669"/>
                </a:solidFill>
              </a:rPr>
              <a:t>実績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600200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目標 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051560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FinOps逸脱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26187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59669"/>
                </a:solidFill>
              </a:rPr>
              <a:t>実績 0件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1600200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目標 0件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051560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bandit件数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26187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59669"/>
                </a:solidFill>
              </a:rPr>
              <a:t>実績 0件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600200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目標 0件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051560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64748B"/>
                </a:solidFill>
              </a:rPr>
              <a:t>月次レポート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1261872"/>
            <a:ext cx="1600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59669"/>
                </a:solidFill>
              </a:rPr>
              <a:t>実績 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1600200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64748B"/>
                </a:solidFill>
              </a:rPr>
              <a:t>目標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331720"/>
            <a:ext cx="6400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50" b="0">
                <a:solidFill>
                  <a:srgbClr val="F5A623"/>
                </a:solidFill>
              </a:rPr>
              <a:t>font-mono tabular-nums tracking-tight（全KPI数値）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560320"/>
            <a:ext cx="41148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578608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予実差グラフ（月次）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120640"/>
            <a:ext cx="411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5120640"/>
            <a:ext cx="411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1752" y="5193792"/>
            <a:ext cx="4480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1月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2" y="5120640"/>
            <a:ext cx="411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" y="5120640"/>
            <a:ext cx="411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" y="5193792"/>
            <a:ext cx="4480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2月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63624" y="5120640"/>
            <a:ext cx="411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63624" y="5120640"/>
            <a:ext cx="411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45336" y="5193792"/>
            <a:ext cx="4480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3月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85416" y="5120640"/>
            <a:ext cx="411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85416" y="5120640"/>
            <a:ext cx="411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67128" y="5193792"/>
            <a:ext cx="4480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4月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07208" y="5120640"/>
            <a:ext cx="411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07208" y="5120640"/>
            <a:ext cx="411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5193792"/>
            <a:ext cx="4480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5月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5120640"/>
            <a:ext cx="411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29000" y="5120640"/>
            <a:ext cx="41148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10712" y="5193792"/>
            <a:ext cx="448056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50" b="0">
                <a:solidFill>
                  <a:srgbClr val="94A3B8"/>
                </a:solidFill>
              </a:rP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394960"/>
            <a:ext cx="3840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F0F4F8"/>
                </a:solidFill>
              </a:rPr>
              <a:t>■ 予算上限¥5,000  ■ 実績¥0（GOVシステム無料枠）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560320"/>
            <a:ext cx="274320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2578608"/>
            <a:ext cx="25603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PMOタスク一覧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283464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288036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FFFFF"/>
                </a:solidFill>
              </a:rPr>
              <a:t>ISMS月次レポート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288036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059669"/>
                </a:solidFill>
              </a:rPr>
              <a:t>完了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3337560"/>
            <a:ext cx="2560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26280" y="338328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FFFFF"/>
                </a:solidFill>
              </a:rPr>
              <a:t>FinOps監視設定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33832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059669"/>
                </a:solidFill>
              </a:rPr>
              <a:t>完了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384048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80" y="388620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FFFFF"/>
                </a:solidFill>
              </a:rPr>
              <a:t>bandit CI統合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388620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059669"/>
                </a:solidFill>
              </a:rPr>
              <a:t>完了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0" y="4343400"/>
            <a:ext cx="256032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26280" y="438912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FFFFF"/>
                </a:solidFill>
              </a:rPr>
              <a:t>AIガバナンス台帳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438912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F5A623"/>
                </a:solidFill>
              </a:rPr>
              <a:t>進行中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4846320"/>
            <a:ext cx="25603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0" y="4892040"/>
            <a:ext cx="17373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0">
                <a:solidFill>
                  <a:srgbClr val="FFFFFF"/>
                </a:solidFill>
              </a:rPr>
              <a:t>G2レビュー準備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489204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50" b="1">
                <a:solidFill>
                  <a:srgbClr val="94A3B8"/>
                </a:solidFill>
              </a:rPr>
              <a:t>未着手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5852160"/>
            <a:ext cx="6949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5943600"/>
            <a:ext cx="27432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5989320"/>
            <a:ext cx="2743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5A623"/>
                </a:solidFill>
              </a:rPr>
              <a:t>📄 月次レポート生成（SHA-256署名付き）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91840" y="5943600"/>
            <a:ext cx="18288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91840" y="5989320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🔍 ISMS証跡確認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FinOps監視画面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1配送コスト表示 / 月額累計 / 警告ライン可視化 / リアルタイム更新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UI設計 v1.0  |  COO経営支援・監査システム部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9494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font-mono tabular-nums tracking-tight（全コスト数値）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32004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2743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1配送コスト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059669"/>
                </a:solidFill>
              </a:rPr>
              <a:t>¥0.32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874519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4748B"/>
                </a:solidFill>
              </a:rPr>
              <a:t>上限: ¥0.50 / 配送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48840"/>
            <a:ext cx="2834640" cy="109728"/>
          </a:xfrm>
          <a:prstGeom prst="rect">
            <a:avLst/>
          </a:prstGeom>
          <a:solidFill>
            <a:srgbClr val="33415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48840"/>
            <a:ext cx="1810512" cy="109728"/>
          </a:xfrm>
          <a:prstGeom prst="rect">
            <a:avLst/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286000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059669"/>
                </a:solidFill>
              </a:rPr>
              <a:t>64% (¥0.32/¥0.50)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822960"/>
            <a:ext cx="35661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841248"/>
            <a:ext cx="32004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月額累計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14300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>
                <a:solidFill>
                  <a:srgbClr val="059669"/>
                </a:solidFill>
              </a:rPr>
              <a:t>¥2,340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874519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0">
                <a:solidFill>
                  <a:srgbClr val="64748B"/>
                </a:solidFill>
              </a:rPr>
              <a:t>/ ¥5,000 上限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148840"/>
            <a:ext cx="3200400" cy="109728"/>
          </a:xfrm>
          <a:prstGeom prst="rect">
            <a:avLst/>
          </a:prstGeom>
          <a:solidFill>
            <a:srgbClr val="33415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0" y="2148840"/>
            <a:ext cx="1497787" cy="109728"/>
          </a:xfrm>
          <a:prstGeom prst="rect">
            <a:avLst/>
          </a:prstGeom>
          <a:solidFill>
            <a:srgbClr val="F5A623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228600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5A623"/>
                </a:solidFill>
              </a:rPr>
              <a:t>46.8% (¥2,340/¥5,000)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200400"/>
            <a:ext cx="6949440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218688"/>
            <a:ext cx="64008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F5A623"/>
                </a:solidFill>
              </a:rPr>
              <a:t>リアルタイム監視ログ（毎時更新）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74320" y="3474720"/>
          <a:ext cx="67665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</a:tblGrid>
              <a:tr h="457200">
                <a:tc>
                  <a:txBody>
                    <a:bodyPr/>
                    <a:lstStyle/>
                    <a:p>
                      <a:r>
                        <a:rPr b="1" sz="800"/>
                        <a:t>タイムスタンプ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1配送コスト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月額累計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ステータス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2026-06-05 10:00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¥0.32/配送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¥2,340/月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正常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2026-06-05 09:00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¥0.31/配送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¥2,278/月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正常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2026-06-05 08:00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¥0.33/配送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¥2,216/月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正常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2026-06-05 07:00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¥0.30/配送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¥2,153/月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正常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/>
                        <a:t>2026-06-05 06:00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¥0.48/配送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¥2,091/月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⚠️ 90%超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AIガバナンス台帳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Claude API使用ログ表 / Gate承認履歴 / CEO判断記録 / SHA-256署名確認ボタン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UI設計 v1.0  |  COO経営支援・監査システム部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9436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Claude API使用ログ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822960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365760">
                <a:tc>
                  <a:txBody>
                    <a:bodyPr/>
                    <a:lstStyle/>
                    <a:p>
                      <a:r>
                        <a:rPr b="1" sz="800"/>
                        <a:t>タイムスタンプ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操作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機能ID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SHA-256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50"/>
                        <a:t>2026-06-05 10:05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KPI集計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GOV-001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sha256:3a7f...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50"/>
                        <a:t>2026-06-05 09:30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ISMS署名生成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GOV-002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sha256:9c2b...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50"/>
                        <a:t>2026-06-04 18:00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FinOps評価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GOV-003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sha256:4d8e...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750"/>
                        <a:t>2026-06-04 12:00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Gate承認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GOV-004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750"/>
                        <a:t>sha256:7f1a...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283464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Gate承認履歴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2880" y="3063240"/>
          <a:ext cx="69494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342900">
                <a:tc>
                  <a:txBody>
                    <a:bodyPr/>
                    <a:lstStyle/>
                    <a:p>
                      <a:r>
                        <a:rPr b="1" sz="800"/>
                        <a:t>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予定日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承認者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状態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/>
                        <a:t>G0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設計完了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2026-06-05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松浦CEO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✅ 承認済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/>
                        <a:t>G1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FinOps監視+bandit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2026-09-30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（予定）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⏳ 未着手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800"/>
                        <a:t>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ISMS自動レポート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2026-11-30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（予定）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⏳ 未着手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82880" y="457200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CEO判断記録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82880" y="4800600"/>
          <a:ext cx="69494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304800">
                <a:tc>
                  <a:txBody>
                    <a:bodyPr/>
                    <a:lstStyle/>
                    <a:p>
                      <a:r>
                        <a:rPr b="1" sz="800"/>
                        <a:t>日時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判断者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00"/>
                        <a:t>決定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00"/>
                        <a:t>2026-06-05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G0承認・GOV部設計完了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松浦 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承認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800"/>
                        <a:t>2026-06-05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BRD v1.0承認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松浦 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承認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82880" y="5852160"/>
            <a:ext cx="694944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925312"/>
            <a:ext cx="32004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5943600"/>
            <a:ext cx="3200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5A623"/>
                </a:solidFill>
              </a:rPr>
              <a:t>🔐 SHA-256署名確認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5925312"/>
            <a:ext cx="30175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5943600"/>
            <a:ext cx="3017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📥 台帳エクスポート（CSV/PDF）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54864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45720"/>
            <a:ext cx="7287768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</a:rPr>
              <a:t>LAYOUT_MASTER準拠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347472"/>
            <a:ext cx="7287768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F0F4F8"/>
                </a:solidFill>
              </a:rPr>
              <a:t>全数値font-mono tabular-nums tracking-tight / #1A2B4C/#E8A020 / DevSecOps CI/CDバッジ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60736"/>
            <a:ext cx="7562088" cy="228600"/>
          </a:xfrm>
          <a:prstGeom prst="rect">
            <a:avLst/>
          </a:prstGeom>
          <a:solidFill>
            <a:srgbClr val="1A3A5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10479024"/>
            <a:ext cx="7379208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700" b="0">
                <a:solidFill>
                  <a:srgbClr val="F0F4F8"/>
                </a:solidFill>
              </a:rPr>
              <a:t>GOV部  |  UI設計 v1.0  |  COO経営支援・監査システム部  |  © 2026 株式会社NiceEze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008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フォント仕様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880" y="868680"/>
          <a:ext cx="69494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329184">
                <a:tc>
                  <a:txBody>
                    <a:bodyPr/>
                    <a:lstStyle/>
                    <a:p>
                      <a:r>
                        <a:rPr b="1" sz="850"/>
                        <a:t>適用箇所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CSSクラス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850"/>
                        <a:t>使用例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全KPI・コスト数値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font-mono tabular-nums tracking-tight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¥0.32 / 100% / 0件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見出し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font-sans font-bold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画面タイトル・セクション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本文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font-sans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説明文・ラベル</a:t>
                      </a:r>
                    </a:p>
                  </a:txBody>
                  <a:tcPr/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800"/>
                        <a:t>エラー/警告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font-mono font-bold text-red-500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/>
                        <a:t>bandit検出・FinOps逸脱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82880" y="269748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カラーパレット（#1A2B4C / #E8A020 ベース）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944368"/>
            <a:ext cx="4572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6265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Navy #1A3A5C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82112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ヘッダー・プライマリ背景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944368"/>
            <a:ext cx="45720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96265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Orange #F5A623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82112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アクション・アクセント・警告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944368"/>
            <a:ext cx="457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96265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White #FFFFFF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3182112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テキスト（ダーク背景）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3675888"/>
            <a:ext cx="457200" cy="457200"/>
          </a:xfrm>
          <a:prstGeom prst="rect">
            <a:avLst/>
          </a:prstGeom>
          <a:solidFill>
            <a:srgbClr val="F0F4F8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69417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LightBG #F0F4F8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13632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カード背景・セカンダリ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675888"/>
            <a:ext cx="457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369417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Green #059669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913632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OK・適合・bandit 0件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675888"/>
            <a:ext cx="4572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0" y="3694176"/>
            <a:ext cx="16002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>
                <a:solidFill>
                  <a:srgbClr val="1A3A5C"/>
                </a:solidFill>
              </a:rPr>
              <a:t>Red #EF4444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3913632"/>
            <a:ext cx="16002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>
                <a:solidFill>
                  <a:srgbClr val="475569"/>
                </a:solidFill>
              </a:rPr>
              <a:t>エラー・FinOps逸脱・bandit検出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" y="4617720"/>
            <a:ext cx="6949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1A3A5C"/>
                </a:solidFill>
              </a:rPr>
              <a:t>DevSecOps CI/CDバッジ表示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864608"/>
            <a:ext cx="731520" cy="320040"/>
          </a:xfrm>
          <a:prstGeom prst="rect">
            <a:avLst/>
          </a:prstGeom>
          <a:solidFill>
            <a:srgbClr val="33415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910328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bandit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4864608"/>
            <a:ext cx="822960" cy="320040"/>
          </a:xfrm>
          <a:prstGeom prst="rect">
            <a:avLst/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910328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0 issues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4864608"/>
            <a:ext cx="731520" cy="320040"/>
          </a:xfrm>
          <a:prstGeom prst="rect">
            <a:avLst/>
          </a:prstGeom>
          <a:solidFill>
            <a:srgbClr val="33415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5960" y="4910328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4864608"/>
            <a:ext cx="822960" cy="320040"/>
          </a:xfrm>
          <a:prstGeom prst="rect">
            <a:avLst/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97480" y="4910328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passing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0" y="4864608"/>
            <a:ext cx="731520" cy="320040"/>
          </a:xfrm>
          <a:prstGeom prst="rect">
            <a:avLst/>
          </a:prstGeom>
          <a:solidFill>
            <a:srgbClr val="33415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4910328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ISMS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864608"/>
            <a:ext cx="822960" cy="320040"/>
          </a:xfrm>
          <a:prstGeom prst="rect">
            <a:avLst/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910328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4864608"/>
            <a:ext cx="731520" cy="320040"/>
          </a:xfrm>
          <a:prstGeom prst="rect">
            <a:avLst/>
          </a:prstGeom>
          <a:solidFill>
            <a:srgbClr val="33415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49240" y="4910328"/>
            <a:ext cx="7315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FinOps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4864608"/>
            <a:ext cx="822960" cy="320040"/>
          </a:xfrm>
          <a:prstGeom prst="rect">
            <a:avLst/>
          </a:prstGeom>
          <a:solidFill>
            <a:srgbClr val="05966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4910328"/>
            <a:ext cx="822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¥0/月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10479024"/>
            <a:ext cx="6400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700" b="0">
                <a:solidFill>
                  <a:srgbClr val="F0F4F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