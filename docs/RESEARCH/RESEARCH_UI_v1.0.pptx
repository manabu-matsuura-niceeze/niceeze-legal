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0"/>
            <a:ext cx="6675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RESEARCH部 UI設計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0"/>
            <a:ext cx="6675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5A623"/>
                </a:solidFill>
              </a:rPr>
              <a:t>EC仕入れリサーチ自動化システム — UI設計書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0"/>
            <a:ext cx="6675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0F4F8"/>
                </a:solidFill>
              </a:rPr>
              <a:t>v1.0  |  2026-06-05  |  © 2026 株式会社NiceEze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UI設計 v1.0  |  © 2026 株式会社NiceEze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RES-A01 価格マトリクス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8社固定テーブル / 最安amber強調 / 1ケース価格・1個単価 / LAYOUT_MASTER準拠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UI設計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9436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LAYOUT_MASTER.md 準拠 — 8社固定価格マトリクス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841248"/>
          <a:ext cx="6949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406400">
                <a:tc>
                  <a:txBody>
                    <a:bodyPr/>
                    <a:lstStyle/>
                    <a:p>
                      <a:r>
                        <a:rPr b="1" sz="850"/>
                        <a:t>プラットフォーム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1個単価 (unit_price)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1ケース価格 (case_price)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最安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80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/>
                        <a:t>¥1,280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/>
                        <a:t>¥12,800 (×10)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/>
                        <a:t>★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800"/>
                        <a:t>楽天市場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¥13,500 (×10)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800"/>
                        <a:t>Yahoo!ショッピング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¥1,290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¥12,900 (×10)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800"/>
                        <a:t>au PAY マーケット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¥1,310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¥13,100 (×10)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800"/>
                        <a:t>Qoo10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¥1,380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¥13,800 (×10)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800"/>
                        <a:t>ヨドバシ.com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¥1,320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¥13,200 (×10)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800"/>
                        <a:t>ビックカメラ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¥1,340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¥13,400 (×10)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800"/>
                        <a:t>ヤマダ電機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¥13,600 (×10)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461772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5A623"/>
                </a:solidFill>
              </a:rPr>
              <a:t>★ 最安プラットフォームは amber (#E8A020) 強調表示 / font-mono tabular-nums tracking-tight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864608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A3A5C"/>
                </a:solidFill>
              </a:rPr>
              <a:t>SHA-256 cache_key により重複リクエスト排除 / IndexedDB niceeze_cache_v142 TTLキャッシュ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RES-A02 トレンド分析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8カテゴリチップ / 3モードボタン / S_retention font-mono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UI設計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9436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LAYOUT_MASTER.md 準拠 — トレンド分析UI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841248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8カテゴリチップ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78992"/>
            <a:ext cx="160020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115568"/>
            <a:ext cx="16002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>
                <a:solidFill>
                  <a:srgbClr val="1A3A5C"/>
                </a:solidFill>
              </a:rPr>
              <a:t>家電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078992"/>
            <a:ext cx="160020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115568"/>
            <a:ext cx="16002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>
                <a:solidFill>
                  <a:srgbClr val="1A3A5C"/>
                </a:solidFill>
              </a:rPr>
              <a:t>PC周辺機器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078992"/>
            <a:ext cx="160020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115568"/>
            <a:ext cx="16002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>
                <a:solidFill>
                  <a:srgbClr val="1A3A5C"/>
                </a:solidFill>
              </a:rPr>
              <a:t>生活用品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078992"/>
            <a:ext cx="160020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115568"/>
            <a:ext cx="16002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>
                <a:solidFill>
                  <a:srgbClr val="1A3A5C"/>
                </a:solidFill>
              </a:rPr>
              <a:t>食品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444752"/>
            <a:ext cx="160020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1481328"/>
            <a:ext cx="16002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>
                <a:solidFill>
                  <a:srgbClr val="1A3A5C"/>
                </a:solidFill>
              </a:rPr>
              <a:t>ファッション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1444752"/>
            <a:ext cx="160020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1481328"/>
            <a:ext cx="16002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>
                <a:solidFill>
                  <a:srgbClr val="1A3A5C"/>
                </a:solidFill>
              </a:rPr>
              <a:t>スポーツ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1444752"/>
            <a:ext cx="160020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1481328"/>
            <a:ext cx="16002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>
                <a:solidFill>
                  <a:srgbClr val="1A3A5C"/>
                </a:solidFill>
              </a:rPr>
              <a:t>ゲーム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1444752"/>
            <a:ext cx="1600200" cy="292608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1481328"/>
            <a:ext cx="16002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>
                <a:solidFill>
                  <a:srgbClr val="1A3A5C"/>
                </a:solidFill>
              </a:rPr>
              <a:t>その他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1901952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3モードボタン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139696"/>
            <a:ext cx="21031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2167128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売れ筋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2139696"/>
            <a:ext cx="210312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2167128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急成長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2139696"/>
            <a:ext cx="210312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2167128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定番残存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65176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スコア表示 (S_retention — font-mono tabular-nums)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82880" y="2880360"/>
          <a:ext cx="6949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402336">
                <a:tc>
                  <a:txBody>
                    <a:bodyPr/>
                    <a:lstStyle/>
                    <a:p>
                      <a:r>
                        <a:rPr b="1" sz="850"/>
                        <a:t>スコア種別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値 (font-mono)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判定結果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/>
                        <a:t>growth_score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急成長フラグ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/>
                        <a:t>bestseller_score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売れ筋フラグ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/>
                        <a:t>retention_score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is_staple: True (≥0.6)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/>
                        <a:t>retention_score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is_staple: True + TODO起票 (≥0.8)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182880" y="498348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F5A623"/>
                </a:solidFill>
              </a:rPr>
              <a:t>RETENTION_THRESHOLD=0.6 → is_staple判定 / ≥0.8 → TODO自動起票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統合ダッシュボード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タブ切替(RES-A01/RES-A02) / モバイル対応 / IndexedDB v142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UI設計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9436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LAYOUT_MASTER.md 準拠 — 統合ダッシュボード (research_dashboard.html)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822960"/>
            <a:ext cx="694944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822960"/>
            <a:ext cx="34290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868680"/>
            <a:ext cx="3429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RES-A01 価格マトリクス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822960"/>
            <a:ext cx="34290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868680"/>
            <a:ext cx="3429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1A3A5C"/>
                </a:solidFill>
              </a:rPr>
              <a:t>RES-A02 トレンド分析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298448"/>
            <a:ext cx="694944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17320"/>
            <a:ext cx="6583680" cy="3840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A3A5C"/>
                </a:solidFill>
              </a:rPr>
              <a:t>【RES-A01 アクティブ時】
8社価格マトリクステーブル表示
最安 amber 強調 / font-mono tabular-nums / unit_price・case_price
【RES-A02 アクティブ時】
8カテゴリチップ + 3モードボタン
growth_score / bestseller_score / retention_score表示
is_staple フラグ + TODO起票バッジ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553212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モバイル対応仕様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806440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• ブレークポイント: sm(640px) / md(768px) / lg(1024px)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080760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• モバイル: タブ縦スクロール / テーブル横スクロール / チップ折り返し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355080"/>
            <a:ext cx="6766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• IndexedDB niceeze_cache_v142: オフライン時はキャッシュデータ表示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LAYOUT_MASTER準拠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font-mono tabular-nums tracking-tight / #1A2B4C/#E8A020 / 全数値DOM必須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RESEARCH部  |  UI設計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21792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フォント仕様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868680"/>
          <a:ext cx="6949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329184">
                <a:tc>
                  <a:txBody>
                    <a:bodyPr/>
                    <a:lstStyle/>
                    <a:p>
                      <a:r>
                        <a:rPr b="1" sz="850"/>
                        <a:t>適用箇所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CSSクラス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備考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数値表示全般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font-mono tabular-nums tracking-tight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全価格・スコア・数量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見出し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font-sans font-bold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タイトル・セクション見出し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本文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font-sans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説明文・ラベル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S_retention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font-mono tabular-nums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retention_score専用クラス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265176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カラーパレット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926080"/>
            <a:ext cx="59436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9260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Navy #1A3A5C
(= #1A2B4C系)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55264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</a:rPr>
              <a:t>ヘッダー・プライマリ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926080"/>
            <a:ext cx="59436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9260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Amber #E8A020
(= #F5A623系)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3255264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</a:rPr>
              <a:t>最安強調・アクション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40480"/>
            <a:ext cx="594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840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White #FFFFFF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169664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</a:rPr>
              <a:t>テキスト（ダーク背景）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840480"/>
            <a:ext cx="59436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3840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LightBG #F0F4F8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4169664"/>
            <a:ext cx="25603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</a:rPr>
              <a:t>カード背景・セカンダリ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489204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全数値DOM必須仕様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166360"/>
            <a:ext cx="6766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• 全数値（価格・スコア・数量）は必ずDOMテキストノードとして出力（スクリーンリーダー対応）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468112"/>
            <a:ext cx="6766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• aria-label属性で単位を明示（例: aria-label="unit_price: 1,280円"）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769864"/>
            <a:ext cx="6766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• font-mono tabular-nums により桁区切りの視覚的整列を保証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