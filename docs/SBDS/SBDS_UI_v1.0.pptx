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SBDS 画面設計書 v1.0 — 画面遷移図（サマリー）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SBDS  |  画面設計書 v1.0  |  © 2026 株式会社NiceEze  Confidential  ※Gemini関与なし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292608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A3A5C"/>
                </a:solidFill>
              </a:rPr>
              <a:t>TMS-SET-001
初期設定・マスタ管理
（管理者）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914400"/>
            <a:ext cx="292608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005840"/>
            <a:ext cx="2743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A3A5C"/>
                </a:solidFill>
              </a:rPr>
              <a:t>TMS-DRV-001
配送員スマホ画面
（配送スタッフ）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29260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A3A5C"/>
                </a:solidFill>
              </a:rPr>
              <a:t>DXFインポート
（モーダル）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23360"/>
            <a:ext cx="29260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A3A5C"/>
                </a:solidFill>
              </a:rPr>
              <a:t>AR計測
（WebXRセッション）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926080"/>
            <a:ext cx="29260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301752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A3A5C"/>
                </a:solidFill>
              </a:rPr>
              <a:t>完了確認
（ダイアログ）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4023360"/>
            <a:ext cx="29260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41148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1A3A5C"/>
                </a:solidFill>
              </a:rPr>
              <a:t>ロック画面
STATUS_LOCKED_BY_LABOR_LAW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28800" y="2011680"/>
            <a:ext cx="0" cy="914400"/>
          </a:xfrm>
          <a:prstGeom prst="line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28800" y="2011680"/>
            <a:ext cx="0" cy="2011680"/>
          </a:xfrm>
          <a:prstGeom prst="line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86400" y="2011680"/>
            <a:ext cx="0" cy="914400"/>
          </a:xfrm>
          <a:prstGeom prst="line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486400" y="2011680"/>
            <a:ext cx="0" cy="2011680"/>
          </a:xfrm>
          <a:prstGeom prst="line">
            <a:avLst/>
          </a:prstGeom>
          <a:ln w="1905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65760" y="7315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画面ID: TMS-SET-001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731520"/>
            <a:ext cx="2926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画面ID: TMS-DRV-001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TMS-SET-001  初期設定・マスタ管理画面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対象ユーザー: 管理者  |  アクセス権: 管理者ロール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SBDS  |  画面設計書 v1.0  |  © 2026 株式会社NiceEze  Confidential  ※Gemini関与なし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94360"/>
            <a:ext cx="6858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LAYOUT_MASTER.md 準拠 3ゾーン構成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822960"/>
            <a:ext cx="69494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841248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上部: 建物基本スペック入力エリア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15544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097280"/>
            <a:ext cx="146304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64748B"/>
                </a:solidFill>
              </a:rPr>
              <a:t>棟数 (1-20)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252728"/>
            <a:ext cx="1463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F5A623"/>
                </a:solidFill>
              </a:rPr>
              <a:t>font-mono tabular-nums tracking-tight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1051560"/>
            <a:ext cx="15544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1097280"/>
            <a:ext cx="146304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64748B"/>
                </a:solidFill>
              </a:rPr>
              <a:t>階数 (1-100)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1252728"/>
            <a:ext cx="1463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F5A623"/>
                </a:solidFill>
              </a:rPr>
              <a:t>font-mono tabular-nums tracking-tight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1051560"/>
            <a:ext cx="15544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1097280"/>
            <a:ext cx="146304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64748B"/>
                </a:solidFill>
              </a:rPr>
              <a:t>居住者用EV (0-20基)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59" y="1252728"/>
            <a:ext cx="1463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F5A623"/>
                </a:solidFill>
              </a:rPr>
              <a:t>font-mono tabular-nums tracking-tight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554480"/>
            <a:ext cx="155448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600200"/>
            <a:ext cx="1463040" cy="137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64748B"/>
                </a:solidFill>
              </a:rPr>
              <a:t>業務用EV (最低4基)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1755648"/>
            <a:ext cx="1463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F5A623"/>
                </a:solidFill>
              </a:rPr>
              <a:t>font-mono tabular-nums tracking-tight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1051560"/>
            <a:ext cx="146304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114300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>
                <a:solidFill>
                  <a:srgbClr val="FFFFFF"/>
                </a:solidFill>
              </a:rPr>
              <a:t>CAD/DXFインポート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514600"/>
            <a:ext cx="694944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53288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中央: フロアスプレッドシート型グリッドエディタ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743200"/>
            <a:ext cx="1060704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" y="2761488"/>
            <a:ext cx="1024128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棟名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53312" y="2743200"/>
            <a:ext cx="1060704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2761488"/>
            <a:ext cx="1024128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部屋番号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32304" y="2743200"/>
            <a:ext cx="1060704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50592" y="2761488"/>
            <a:ext cx="1024128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専有面積(㎡)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11296" y="2743200"/>
            <a:ext cx="1060704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9584" y="2761488"/>
            <a:ext cx="1024128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家賃(円)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90288" y="2743200"/>
            <a:ext cx="1060704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8576" y="2761488"/>
            <a:ext cx="1024128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EV出口距離(m)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2743200"/>
            <a:ext cx="1060704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87568" y="2761488"/>
            <a:ext cx="1024128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017520"/>
            <a:ext cx="1060704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" y="303580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A棟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53312" y="3017520"/>
            <a:ext cx="1060704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303580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0101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32304" y="3017520"/>
            <a:ext cx="1060704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50592" y="303580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25.00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11296" y="3017520"/>
            <a:ext cx="1060704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9584" y="303580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80,000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017520"/>
            <a:ext cx="1060704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08576" y="303580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15.0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3017520"/>
            <a:ext cx="1060704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87568" y="303580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337560"/>
            <a:ext cx="1060704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" y="335584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A棟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53312" y="3337560"/>
            <a:ext cx="1060704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335584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0101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32304" y="3337560"/>
            <a:ext cx="1060704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50592" y="335584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25.00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11296" y="3337560"/>
            <a:ext cx="1060704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29584" y="335584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80,000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90288" y="3337560"/>
            <a:ext cx="1060704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08576" y="335584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15.0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0" y="3337560"/>
            <a:ext cx="1060704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87568" y="335584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3657600"/>
            <a:ext cx="1060704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2608" y="367588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A棟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53312" y="3657600"/>
            <a:ext cx="1060704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71600" y="367588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0101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32304" y="3657600"/>
            <a:ext cx="1060704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50592" y="367588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25.00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11296" y="3657600"/>
            <a:ext cx="1060704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29584" y="367588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80,000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90288" y="3657600"/>
            <a:ext cx="1060704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08576" y="367588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15.0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0" y="3657600"/>
            <a:ext cx="1060704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87568" y="3675888"/>
            <a:ext cx="1024128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E2E8F0"/>
                </a:solidFill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" y="4023360"/>
            <a:ext cx="6400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F5A623"/>
                </a:solidFill>
              </a:rPr>
              <a:t>※ 専有面積・家賃・EV距離は font-mono tabular-nums tracking-tight 必須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7132320"/>
            <a:ext cx="694944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" y="7150608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下部: 保存 / リセット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0" y="7205472"/>
            <a:ext cx="100584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0" y="7260336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保存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760720" y="7205472"/>
            <a:ext cx="100584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760720" y="7260336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リセット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TMS-DRV-001  配送員専用スマホ画面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対象ユーザー: 配送スタッフ  |  アクセス権: 認証済みスタッフ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SBDS  |  画面設計書 v1.0  |  © 2026 株式会社NiceEze  Confidential  ※Gemini関与なし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94360"/>
            <a:ext cx="6858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LAYOUT_MASTER.md 準拠 3ゾーン構成（スマホ最適化）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822960"/>
            <a:ext cx="694944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841248"/>
            <a:ext cx="3657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上部（固定ヘッダー）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051560"/>
            <a:ext cx="20116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4748B"/>
                </a:solidFill>
              </a:rPr>
              <a:t>本日配送総数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3444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</a:rPr>
              <a:t>12件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051560"/>
            <a:ext cx="20116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4748B"/>
                </a:solidFill>
              </a:rPr>
              <a:t>現在フロア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23444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</a:rPr>
              <a:t>2F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051560"/>
            <a:ext cx="20116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4748B"/>
                </a:solidFill>
              </a:rPr>
              <a:t>完了 / 未完了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23444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</a:rPr>
              <a:t>3 /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600200"/>
            <a:ext cx="64008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F5A623"/>
                </a:solidFill>
              </a:rPr>
              <a:t>font-mono tabular-nums tracking-tight（3統計値すべて）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331720"/>
            <a:ext cx="6949440" cy="457200"/>
          </a:xfrm>
          <a:prstGeom prst="rect">
            <a:avLst/>
          </a:prstGeom>
          <a:solidFill>
            <a:srgbClr val="7F1D1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395728"/>
            <a:ext cx="6766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CA5A5"/>
                </a:solidFill>
              </a:rPr>
              <a:t>⚠ STATUS_LOCKED_BY_LABOR_LAW — 4時間連続作業のため休憩必須（全入力無効）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834640"/>
            <a:ext cx="6949440" cy="3840480"/>
          </a:xfrm>
          <a:prstGeom prst="rect">
            <a:avLst/>
          </a:prstGeom>
          <a:solidFill>
            <a:srgbClr val="0F172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85292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中央: 配送リスト（最適順路ソート済み）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67665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15468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1F-0101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3182112"/>
            <a:ext cx="731520" cy="228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320040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通常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931920"/>
            <a:ext cx="6766560" cy="749808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97764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2F-0201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4005072"/>
            <a:ext cx="731520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402336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冷凍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29768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>
                <a:solidFill>
                  <a:srgbClr val="EF4444"/>
                </a:solidFill>
              </a:rPr>
              <a:t>【ロッカー格納禁止：手渡し必須】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754880"/>
            <a:ext cx="6766560" cy="749808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8006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2F-0203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4828032"/>
            <a:ext cx="731520" cy="228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484632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冷蔵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12064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>
                <a:solidFill>
                  <a:srgbClr val="EF4444"/>
                </a:solidFill>
              </a:rPr>
              <a:t>【ロッカー格納禁止：手渡し必須】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577840"/>
            <a:ext cx="67665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6235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2F-0205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5650992"/>
            <a:ext cx="731520" cy="228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0" y="5669280"/>
            <a:ext cx="7315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要注意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943600"/>
            <a:ext cx="6400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>
                <a:solidFill>
                  <a:srgbClr val="EF4444"/>
                </a:solidFill>
              </a:rPr>
              <a:t>（クレーム要注意 / 同フロア最後）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6720840"/>
            <a:ext cx="694944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739128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下部: 動線マップ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9494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0A5FA"/>
                </a:solidFill>
              </a:rPr>
              <a:t>EVホール → 廊下(8m) → 2F-0201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7205472"/>
            <a:ext cx="6400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34D399"/>
                </a:solidFill>
              </a:rPr>
              <a:t>推定到着残り時間: 1分23秒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7498079"/>
            <a:ext cx="64008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F5A623"/>
                </a:solidFill>
              </a:rPr>
              <a:t>font-mono tabular-nums tracking-tight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入力バリデーション・エラー表示仕様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TMS-SET-001 / TMS-DRV-001 共通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SBDS  |  画面設計書 v1.0  |  © 2026 株式会社NiceEze  Confidential  ※Gemini関与なし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TMS-SET-001 入力フィールド仕様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" y="914400"/>
          <a:ext cx="6949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888"/>
                <a:gridCol w="1389888"/>
                <a:gridCol w="1389888"/>
                <a:gridCol w="1389888"/>
                <a:gridCol w="1389888"/>
              </a:tblGrid>
              <a:tr h="304800">
                <a:tc>
                  <a:txBody>
                    <a:bodyPr/>
                    <a:lstStyle/>
                    <a:p>
                      <a:r>
                        <a:rPr b="1" sz="800"/>
                        <a:t>フィールド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バリデーション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必須/任意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エラー表示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750"/>
                        <a:t>棟数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1〜20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必須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範囲外: 赤枠 + エラーメッセージ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750"/>
                        <a:t>階数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1〜100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必須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範囲外: 赤枠 + エラーメッセージ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750"/>
                        <a:t>居住者用EV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0〜20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必須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範囲外: 赤枠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750"/>
                        <a:t>業務用EV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最低4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必須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4未満: 赤枠「最低4基必須」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750"/>
                        <a:t>部屋番号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^\d{3,4}[A-Za-z]?$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必須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正規表現不一致: 赤枠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750"/>
                        <a:t>専有面積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&gt;0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必須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0以下: 赤枠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750"/>
                        <a:t>家賃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≥0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必須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負値: 赤枠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750"/>
                        <a:t>EV出口距離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≥0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必須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負値: 赤枠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2880" y="3794760"/>
            <a:ext cx="6949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A3A5C"/>
                </a:solidFill>
              </a:rPr>
              <a:t>TMS-DRV-001 警告バナー仕様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4069080"/>
            <a:ext cx="694944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11480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EF4444"/>
                </a:solidFill>
              </a:rPr>
              <a:t>冷凍/冷蔵警告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343400"/>
            <a:ext cx="6583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A3A5C"/>
                </a:solidFill>
              </a:rPr>
              <a:t>赤背景ボーダー + 赤字大文字【ロッカー格納禁止：手渡し必須】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4709160"/>
            <a:ext cx="694944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5488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EF4444"/>
                </a:solidFill>
              </a:rPr>
              <a:t>STATUS_LOCKED_BY_LABOR_LAW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983480"/>
            <a:ext cx="6583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A3A5C"/>
                </a:solidFill>
              </a:rPr>
              <a:t>赤ダーク背景バナー全幅表示 + 全入力pointer-events:none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5349240"/>
            <a:ext cx="694944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539496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5A623"/>
                </a:solidFill>
              </a:rPr>
              <a:t>クレーム要注意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623560"/>
            <a:ext cx="6583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A3A5C"/>
                </a:solidFill>
              </a:rPr>
              <a:t>オレンジフラグ + 同フロア最後尾ソート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5989320"/>
            <a:ext cx="694944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03504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60A5FA"/>
                </a:solidFill>
              </a:rPr>
              <a:t>1分前PULL通知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263640"/>
            <a:ext cx="65836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A3A5C"/>
                </a:solidFill>
              </a:rPr>
              <a:t>ETA残り60秒でLINE PUSH発火（UIは青字表示）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