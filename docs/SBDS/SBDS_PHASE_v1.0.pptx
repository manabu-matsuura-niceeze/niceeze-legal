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SBDS フェーズ管理書 v1.0 — 文書管理・開発基本方針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F0F4F8"/>
                </a:solidFill>
              </a:rPr>
              <a:t>SBDS  |  フェーズ管理書 v1.0  |  © 2026 株式会社NiceEze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</a:rPr>
              <a:t>文書管理表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914400"/>
          <a:ext cx="4572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29184">
                <a:tc>
                  <a:txBody>
                    <a:bodyPr/>
                    <a:lstStyle/>
                    <a:p>
                      <a:r>
                        <a:rPr sz="900"/>
                        <a:t>文書名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SBDS フェーズ管理書 v1.0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00"/>
                        <a:t>作成日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2026-06-05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00"/>
                        <a:t>作成者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自律COO（Claude Code）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00"/>
                        <a:t>承認者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代表取締役CEO 松浦 学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00"/>
                        <a:t>根拠文書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BRD v1.0 / SRS v1.0 / PLAN-20260604-001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0" y="640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</a:rPr>
              <a:t>開発基本方針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9144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1A3A5C"/>
                </a:solidFill>
              </a:rPr>
              <a:t>① Gate制厳守: G0→G1→G2→G3→G4の順。CEOへの承認なしにGateを飛ばさない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298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1A3A5C"/>
                </a:solidFill>
              </a:rPr>
              <a:t>② レイアウト固定: LAYOUT_MASTER.mdを唯一の正本。変更はCEO承認後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68249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1A3A5C"/>
                </a:solidFill>
              </a:rPr>
              <a:t>③ GeminiのUI禁止: レイアウト・画面実装にGeminiを関与させない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0665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1A3A5C"/>
                </a:solidFill>
              </a:rPr>
              <a:t>④ DevSepOps: APIキーはフロントエンドに一切露出しない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4505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1A3A5C"/>
                </a:solidFill>
              </a:rPr>
              <a:t>⑤ 自律文書化: 全変更をCHANGELOG_JA.mdに即時コミット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8346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1A3A5C"/>
                </a:solidFill>
              </a:rPr>
              <a:t>⑥ 不明点報告: 松浦CEO要件定義待ちとして即座に報告。でっち上げ禁止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フェーズ全体マップ（Gate 0〜4）  Phase 1完了目標: 2027年2月（3万世帯）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F0F4F8"/>
                </a:solidFill>
              </a:rPr>
              <a:t>SBDS  |  フェーズ管理書 v1.0  |  © 2026 株式会社NiceEze 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40080"/>
            <a:ext cx="1828800" cy="5029200"/>
          </a:xfrm>
          <a:prstGeom prst="rect">
            <a:avLst/>
          </a:prstGeom>
          <a:solidFill>
            <a:srgbClr val="F0F4F8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40080"/>
            <a:ext cx="182880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960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FFFFFF"/>
                </a:solidFill>
              </a:rPr>
              <a:t>2026/07末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1645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3A5C"/>
                </a:solidFill>
              </a:rPr>
              <a:t>GCP基盤構築
LAYOUT_MASTER登録
CI整備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04288" y="640080"/>
            <a:ext cx="1828800" cy="5029200"/>
          </a:xfrm>
          <a:prstGeom prst="rect">
            <a:avLst/>
          </a:prstGeom>
          <a:solidFill>
            <a:srgbClr val="F0F4F8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04288" y="640080"/>
            <a:ext cx="182880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4288" y="6583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288" y="960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FFFFFF"/>
                </a:solidFill>
              </a:rPr>
              <a:t>2026/09末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5728" y="1234440"/>
            <a:ext cx="1645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3A5C"/>
                </a:solidFill>
              </a:rPr>
              <a:t>SBDS完成
TMS-SET-001
TMS-DRV-001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4256" y="640080"/>
            <a:ext cx="1828800" cy="5029200"/>
          </a:xfrm>
          <a:prstGeom prst="rect">
            <a:avLst/>
          </a:prstGeom>
          <a:solidFill>
            <a:srgbClr val="F0F4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6" y="640080"/>
            <a:ext cx="18288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4256" y="6583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6" y="960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FFFFFF"/>
                </a:solidFill>
              </a:rPr>
              <a:t>2026/11末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1234440"/>
            <a:ext cx="1645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3A5C"/>
                </a:solidFill>
              </a:rPr>
              <a:t>SURPLUS SHIFT v14.2
i18n 15ヶ国語
Research完成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64224" y="640080"/>
            <a:ext cx="1828800" cy="5029200"/>
          </a:xfrm>
          <a:prstGeom prst="rect">
            <a:avLst/>
          </a:prstGeom>
          <a:solidFill>
            <a:srgbClr val="F0F4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64224" y="640080"/>
            <a:ext cx="18288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6583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960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FFFFFF"/>
                </a:solidFill>
              </a:rPr>
              <a:t>2027/01末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1234440"/>
            <a:ext cx="1645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3A5C"/>
                </a:solidFill>
              </a:rPr>
              <a:t>Marketing-Sys
朝夕スケジューラー
GOV/S10完成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94192" y="640080"/>
            <a:ext cx="1828800" cy="5029200"/>
          </a:xfrm>
          <a:prstGeom prst="rect">
            <a:avLst/>
          </a:prstGeom>
          <a:solidFill>
            <a:srgbClr val="F0F4F8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94192" y="640080"/>
            <a:ext cx="182880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6583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960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FFFFFF"/>
                </a:solidFill>
              </a:rPr>
              <a:t>2027/02末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1234440"/>
            <a:ext cx="1645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3A5C"/>
                </a:solidFill>
              </a:rPr>
              <a:t>Cloud Run proxy
本番デプロイ
Go-Live（3万世帯）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589788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3A5C"/>
                </a:solidFill>
              </a:rPr>
              <a:t>Phase 1（〜2027年2月）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G1 SBDS工数内訳  Gate 1（〜2026/09末）スプリント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F0F4F8"/>
                </a:solidFill>
              </a:rPr>
              <a:t>SBDS  |  フェーズ管理書 v1.0  |  © 2026 株式会社NiceEze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</a:rPr>
              <a:t>SBDS G1 工数内訳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914400"/>
          <a:ext cx="9875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  <a:gridCol w="2468880"/>
                <a:gridCol w="2468880"/>
              </a:tblGrid>
              <a:tr h="374072">
                <a:tc>
                  <a:txBody>
                    <a:bodyPr/>
                    <a:lstStyle/>
                    <a:p>
                      <a:r>
                        <a:rPr sz="850" b="1"/>
                        <a:t>タスク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1"/>
                        <a:t>担当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1"/>
                        <a:t>状態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1"/>
                        <a:t>費用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800"/>
                        <a:t>TMS-SET-001 基本実装（BuildingMaster/RoomRecord）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完了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800"/>
                        <a:t>IndexedDB v142移行（v140→v142）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完了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800"/>
                        <a:t>Jaro-Winkler名寄せ（D_jw≥0.85）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完了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800"/>
                        <a:t>STATUS_LOCKED_BY_LABOR_LAW（労働法ロック）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完了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800"/>
                        <a:t>TMS-DRV-001 UI（冷凍警告・ETA・ルーティング）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完了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800"/>
                        <a:t>DXFインポート（dxf-parser.js統合）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未着手（G1内）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800"/>
                        <a:t>WebXR AR計測（±50cm許容）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判断③待ち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800"/>
                        <a:t>LIFF→PWA導線設計（QRコード・案内文）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未着手（G1内）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800"/>
                        <a:t>Cloud Run APIサーバー（FastAPI）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未着手（G0）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r>
                        <a:rPr sz="800"/>
                        <a:t>LINE Webhook + Redis Consumer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完了（src/layer3）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521208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59669"/>
                </a:solidFill>
              </a:rPr>
              <a:t>AI自律開発（Claude Code）により開発人件費 = ¥0。インフラコストのみ発生。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予算管理表・FinOpsコスト  総開発費: ¥2,844万（補助金活用後 ¥1,293万）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F0F4F8"/>
                </a:solidFill>
              </a:rPr>
              <a:t>SBDS  |  フェーズ管理書 v1.0  |  © 2026 株式会社NiceEze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</a:rPr>
              <a:t>全社 総開発費内訳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91440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26571">
                <a:tc>
                  <a:txBody>
                    <a:bodyPr/>
                    <a:lstStyle/>
                    <a:p>
                      <a:r>
                        <a:rPr sz="900" b="1"/>
                        <a:t>区分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金額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備考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/>
                        <a:t>開発費（AI自律開発）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¥0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100%削減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/>
                        <a:t>GCPインフラ（8ヶ月）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¥138,000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/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/>
                        <a:t>Claude API（本番12ヶ月）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¥540,000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/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/>
                        <a:t>CEO・COO活動費（8ヶ月）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¥27,759,000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補助金対象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/>
                        <a:t>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¥28,440,000（¥2,844万）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/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r>
                        <a:rPr sz="900"/>
                        <a:t>補助金控除後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¥12,930,000（¥1,293万）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補助金¥15,510,000想定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0" y="6400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</a:rPr>
              <a:t>GCP月次コスト（SBDS / 3万世帯）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0" y="91440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285750">
                <a:tc>
                  <a:txBody>
                    <a:bodyPr/>
                    <a:lstStyle/>
                    <a:p>
                      <a:r>
                        <a:rPr sz="900" b="1"/>
                        <a:t>サービス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月額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900"/>
                        <a:t>Cloud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¥750〜2,250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900"/>
                        <a:t>Memorystore Redis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¥2,250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900"/>
                        <a:t>Firestore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¥0〜450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900"/>
                        <a:t>BigQuery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¥300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900"/>
                        <a:t>LINE Messaging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¥750〜1,500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900"/>
                        <a:t>月額合計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¥4,050〜6,750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900"/>
                        <a:t>1個口コスト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¥0.10〜0.14 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リスク管理表  SBDS Gate 1 スプリント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F0F4F8"/>
                </a:solidFill>
              </a:rPr>
              <a:t>SBDS  |  フェーズ管理書 v1.0  |  © 2026 株式会社NiceEze  Confidential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640080"/>
          <a:ext cx="98755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104"/>
                <a:gridCol w="1975104"/>
                <a:gridCol w="1975104"/>
                <a:gridCol w="1975104"/>
                <a:gridCol w="1975104"/>
              </a:tblGrid>
              <a:tr h="662940">
                <a:tc>
                  <a:txBody>
                    <a:bodyPr/>
                    <a:lstStyle/>
                    <a:p>
                      <a:r>
                        <a:rPr sz="900" b="1"/>
                        <a:t>リスク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確率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影響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対策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Gate</a:t>
                      </a:r>
                    </a:p>
                  </a:txBody>
                  <a:tcPr/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850"/>
                        <a:t>LINE Mini App審査遅延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G1遅延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PWA先行リリース後LIFF追加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G1</a:t>
                      </a:r>
                    </a:p>
                  </a:txBody>
                  <a:tcPr/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850"/>
                        <a:t>WebXR on LIFF 動作しない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AR機能無効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PWA別URL + QRコード導線（判断⑥A済）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G1</a:t>
                      </a:r>
                    </a:p>
                  </a:txBody>
                  <a:tcPr/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850"/>
                        <a:t>DXF品質低下・精度不足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手動工数増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フォールバック手動入力UI完備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G1</a:t>
                      </a:r>
                    </a:p>
                  </a:txBody>
                  <a:tcPr/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850"/>
                        <a:t>iOS WebXR未対応（iOS15以下）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一部AR利用不可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A案: 手動代替 / B案: +3-4日工数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判断③待ち</a:t>
                      </a:r>
                    </a:p>
                  </a:txBody>
                  <a:tcPr/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850"/>
                        <a:t>Jaro-Winkler偽陰性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誤配送リスク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閾値0.85実証済・500件テスト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G1</a:t>
                      </a:r>
                    </a:p>
                  </a:txBody>
                  <a:tcPr/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850"/>
                        <a:t>GCP初期コスト超過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コスト目標外れ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Firestore軽量構成で初期対応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G0</a:t>
                      </a:r>
                    </a:p>
                  </a:txBody>
                  <a:tcPr/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850"/>
                        <a:t>レイアウト崩壊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UI不一致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LAYOUT_MASTER + layout-guard CI（実装済）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全Gate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