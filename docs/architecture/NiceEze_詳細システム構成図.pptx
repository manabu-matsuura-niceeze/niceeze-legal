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6D74"/>
                </a:solidFill>
              </a:rPr>
              <a:t>NiceEze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NiceEze 詳細システム構成図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EA7DB"/>
                </a:solidFill>
              </a:rPr>
              <a:t>自律経営執行システム v14.2  —  各サブシステム内部構成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97680"/>
            <a:ext cx="3931920" cy="45720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</a:rPr>
              <a:t>RESEARCH  |  SURPLUS SHIFT  |  MARKETING  |  GOV  |  SBDS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RESEARCH システム詳細  (:8080)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api.py  —  REST API エントリポイント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114800" cy="2697480"/>
          </a:xfrm>
          <a:prstGeom prst="rect">
            <a:avLst/>
          </a:prstGeom>
          <a:solidFill>
            <a:srgbClr val="222840"/>
          </a:solidFill>
          <a:ln w="9525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2"/>
            <a:ext cx="39319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GET  /api/v1/research/price-trend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/api/v1/research/ranking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/api/v1/research/growth-alert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/api/v1/research/new-products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POST /api/v1/research/export  (Bearer認証)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85800"/>
            <a:ext cx="3931920" cy="320040"/>
          </a:xfrm>
          <a:prstGeom prst="rect">
            <a:avLst/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analytics.py  —  価格分析エンジン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05840"/>
            <a:ext cx="3931920" cy="2697480"/>
          </a:xfrm>
          <a:prstGeom prst="rect">
            <a:avLst/>
          </a:prstGeom>
          <a:solidFill>
            <a:srgbClr val="222840"/>
          </a:solidFill>
          <a:ln w="9525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033272"/>
            <a:ext cx="3749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ResearchAnalytics クラス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building_types: luxury / family / student / single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price_trend()  —  トレンド分析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ranking()  —  ランキング生成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growth_alerts()  —  急騰アラート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export_csv()  —  CSVエクスポート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1920240" cy="320040"/>
          </a:xfrm>
          <a:prstGeom prst="rect">
            <a:avLst/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res_a01.py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0520"/>
            <a:ext cx="1920240" cy="1508760"/>
          </a:xfrm>
          <a:prstGeom prst="rect">
            <a:avLst/>
          </a:prstGeom>
          <a:solidFill>
            <a:srgbClr val="222840"/>
          </a:solidFill>
          <a:ln w="9525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187952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楽天API連携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商品検索・価格取得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レート制限管理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840480"/>
            <a:ext cx="1920240" cy="320040"/>
          </a:xfrm>
          <a:prstGeom prst="rect">
            <a:avLst/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res_a02.py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4160520"/>
            <a:ext cx="1920240" cy="1508760"/>
          </a:xfrm>
          <a:prstGeom prst="rect">
            <a:avLst/>
          </a:prstGeom>
          <a:solidFill>
            <a:srgbClr val="222840"/>
          </a:solidFill>
          <a:ln w="9525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187952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Yahoo! API連携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Keepa API連携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履歴価格取得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840480"/>
            <a:ext cx="7223760" cy="18288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9525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88620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アーキテクチャノート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• REST API → analytics.py → res_a01/02 → 外部API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• Bearer Token 認証 (export エンドポイント)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• 価格データは DB/Cache に永続化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• RESEARCH → SURPLUS SHIFT / MARKETING へデータ供給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SURPLUS SHIFT システム詳細  (:8081)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2560320" cy="320040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surplus_api.py  (:8081)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560320" cy="1051560"/>
          </a:xfrm>
          <a:prstGeom prst="rect">
            <a:avLst/>
          </a:prstGeom>
          <a:solidFill>
            <a:srgbClr val="222840"/>
          </a:solidFill>
          <a:ln w="9525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商談APIエントリポイント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6ステータス管理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PDF / HTML 出力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685800"/>
            <a:ext cx="5029200" cy="320040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Gate制審査モジュール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005840"/>
            <a:ext cx="5029200" cy="1051560"/>
          </a:xfrm>
          <a:prstGeom prst="rect">
            <a:avLst/>
          </a:prstGeom>
          <a:solidFill>
            <a:srgbClr val="222840"/>
          </a:solidFill>
          <a:ln w="9525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033272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gate_a.py  —  初期審査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gate_b.py  —  物件評価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gate_c.py  —  価格交渉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gate_d.py  —  最終承認  ★ human_approval_required=True（変更禁止）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3840480" cy="320040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negotiation_log.py  —  自律商談ログ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3840480" cy="3063240"/>
          </a:xfrm>
          <a:prstGeom prst="rect">
            <a:avLst/>
          </a:prstGeom>
          <a:solidFill>
            <a:srgbClr val="222840"/>
          </a:solidFill>
          <a:ln w="9525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33472"/>
            <a:ext cx="36576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STATUS フロー: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DRAFT → HUMAN_APPROVED → SENT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Gate D 制約: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human_approval_required = True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（変更禁止・監査対象）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商談履歴の完全監査証跡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PDF / HTML 出力サポート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286000"/>
            <a:ext cx="7589520" cy="320040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negotiation_api.py  —  商談API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606040"/>
            <a:ext cx="7589520" cy="3063240"/>
          </a:xfrm>
          <a:prstGeom prst="rect">
            <a:avLst/>
          </a:prstGeom>
          <a:solidFill>
            <a:srgbClr val="222840"/>
          </a:solidFill>
          <a:ln w="9525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633472"/>
            <a:ext cx="7406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6ステータス管理: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NEW / DRAFT / HUMAN_APPROVED / SENT / ACCEPTED / CLOSED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SmartLifeProduct クラス: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__setattr__ ガード（不変フィールド保護）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SmartLife IoT 解錠制御連携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PDF生成 / HTML出力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GOV へ 商談KPI 供給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MARKETING システム詳細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384048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x_poster.py  —  X(Twitter) 投稿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840480" cy="2240280"/>
          </a:xfrm>
          <a:prstGeom prst="rect">
            <a:avLst/>
          </a:prstGeom>
          <a:solidFill>
            <a:srgbClr val="2228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2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OAuth 1.0a 署名（HMAC-SHA1）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140文字トランケート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mock_mode（環境変数未設定時）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投稿スケジューリング対応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エラーリトライロジック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685800"/>
            <a:ext cx="365760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content_generator.py  —  コンテンツ生成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657600" cy="2240280"/>
          </a:xfrm>
          <a:prstGeom prst="rect">
            <a:avLst/>
          </a:prstGeom>
          <a:solidFill>
            <a:srgbClr val="2228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033272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Claude API 連携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不動産・旅行カテゴリ対応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RESEARCH トレンド情報活用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ハッシュタグ自動付与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29000"/>
            <a:ext cx="237744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news_crawler.py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2377440" cy="1965960"/>
          </a:xfrm>
          <a:prstGeom prst="rect">
            <a:avLst/>
          </a:prstGeom>
          <a:solidFill>
            <a:srgbClr val="2228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ニュース収集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RSSフィード解析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キーワードフィルタ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429000"/>
            <a:ext cx="237744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scheduler.py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749040"/>
            <a:ext cx="2377440" cy="1965960"/>
          </a:xfrm>
          <a:prstGeom prst="rect">
            <a:avLst/>
          </a:prstGeom>
          <a:solidFill>
            <a:srgbClr val="2228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77647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定期実行スケジューラ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cron 設定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失敗時アラート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429000"/>
            <a:ext cx="274320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delivery_log.py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3749040"/>
            <a:ext cx="2743200" cy="1965960"/>
          </a:xfrm>
          <a:prstGeom prst="rect">
            <a:avLst/>
          </a:prstGeom>
          <a:solidFill>
            <a:srgbClr val="2228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2560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配信ログ管理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投稿実績 → GOV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エンゲージメント記録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685800"/>
            <a:ext cx="3657600" cy="50292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9525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73152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投稿フロー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1. news_crawler → トレンド取得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2. content_generator → 文章生成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3. x_poster → OAuth 1.0a 署名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4. X API へ POST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5. delivery_log → 実績記録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6. GOV へ 投稿実績 供給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mock_mode: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  環境変数 X_API_KEY 未設定時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  実際の投稿なしでテスト可能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GOV システム詳細  (:8082)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457200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api.py  (:8082)  —  エンドポイント一覧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572000" cy="2240280"/>
          </a:xfrm>
          <a:prstGeom prst="rect">
            <a:avLst/>
          </a:prstGeom>
          <a:solidFill>
            <a:srgbClr val="2228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2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GET/POST  /coo/report   —  COOレポート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GET/POST  /coo/kpi      —  KPI管理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GET/POST  /coo/budget   —  予算管理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GET/POST  /coo/pmo      —  PMO(Gates G0-G4)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/finops/summary    —  コスト集計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/finops/alerts     —  コストアラート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POST /finops/cost       —  コスト登録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POST /ops/log           —  稼働ログ登録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/ops/health        —  ヘルスチェック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GET  /ops/logs/{service}  —  サービス別ログ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685800"/>
            <a:ext cx="365760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s10_coo_report.py  —  COOレポートエンジン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05840"/>
            <a:ext cx="3657600" cy="2240280"/>
          </a:xfrm>
          <a:prstGeom prst="rect">
            <a:avLst/>
          </a:prstGeom>
          <a:solidFill>
            <a:srgbClr val="2228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33272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KPIRecord: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achievement_rate（達成率）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BudgetRecord: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variance_jpy（予算差異）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PMOTask: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Gates G0 → G4 追跡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Claude API でレポート文章生成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S10ダッシュボード向け出力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29000"/>
            <a:ext cx="384048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finops_monitor.py  —  コスト監視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3840480" cy="1965960"/>
          </a:xfrm>
          <a:prstGeom prst="rect">
            <a:avLst/>
          </a:prstGeom>
          <a:solidFill>
            <a:srgbClr val="2228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2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MAX_COST_PER_DELIVERY: ¥0.5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MONTHLY_BUDGET:        ¥5,000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ALERT_THRESHOLD:       80%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超過時アラート → 管理者通知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Claude API コスト追跡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429000"/>
            <a:ext cx="3657600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ops_log_collector.py  —  稼働ログ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749040"/>
            <a:ext cx="3657600" cy="1965960"/>
          </a:xfrm>
          <a:prstGeom prst="rect">
            <a:avLst/>
          </a:prstGeom>
          <a:solidFill>
            <a:srgbClr val="2228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776472"/>
            <a:ext cx="3474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監視対象サービス: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sbds / surplus_shift / research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marketing / gov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ヘルスチェック集約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障害検知・アラート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429000"/>
            <a:ext cx="3749039" cy="22860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9525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集約フロー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RESEARCH / SURPLUS SHIFT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MARKETING / SBDS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    ↓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GOV (ops_log_collector)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    ↓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COOレポート + S10ダッシュボード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SBDS システム詳細  (:8083)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228600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travel_api.py  (:8083)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86000" cy="114300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2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REST APIエントリポイント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旅行者セッション管理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QRコード発行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685800"/>
            <a:ext cx="301752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travel_qr.py  —  QR発行管理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005840"/>
            <a:ext cx="3017520" cy="114300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03327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TTL: 86400秒（24時間）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secrets.token_urlsafe(32)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QR失効・再発行ロジック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685800"/>
            <a:ext cx="594360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carrier_webhook.py  —  キャリアWebhook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05840"/>
            <a:ext cx="5943600" cy="114300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033272"/>
            <a:ext cx="5760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ヤマト / 佐川  HMAC-SHA256 署名検証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PII: tracking_number を SHA-256 ハッシュ化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auto_assign_locker()  —  ロッカー自動割当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Webhook受信 → 配送状態更新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31720"/>
            <a:ext cx="411480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ai_support.py  —  AIサポートセンター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51760"/>
            <a:ext cx="4114800" cy="306324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9192"/>
            <a:ext cx="3931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14言語対応: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ja / en / zh-CN / zh-TW / ko / th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fr / it / de / es / pt / id / ar / hi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Claude API 連携: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  model: claude-sonnet-4-20250514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fallback: テンプレートベース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言語自動検出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FAQ自動応答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331720"/>
            <a:ext cx="274320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tms_set_001.py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651760"/>
            <a:ext cx="2743200" cy="123444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679192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配送セット管理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荷物グルーピング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ルート最適化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331720"/>
            <a:ext cx="256032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tms_drv_001.py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651760"/>
            <a:ext cx="2560320" cy="123444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679192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ドライバー管理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配送状態追跡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完了通知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069080"/>
            <a:ext cx="237744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travel_pdf.py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389120"/>
            <a:ext cx="2377440" cy="137160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416552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PDF生成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旅行者向け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QR埋め込み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069080"/>
            <a:ext cx="4754880" cy="320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static/panel.html  —  タッチパネルUI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389120"/>
            <a:ext cx="4754880" cy="1371600"/>
          </a:xfrm>
          <a:prstGeom prst="rect">
            <a:avLst/>
          </a:prstGeom>
          <a:solidFill>
            <a:srgbClr val="2228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441655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• 14言語選択画面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タッチ操作対応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QRスキャン連携</a:t>
            </a:r>
          </a:p>
          <a:p>
            <a:pPr algn="l"/>
            <a:r>
              <a:rPr sz="800" b="0">
                <a:solidFill>
                  <a:srgbClr val="AAAABB"/>
                </a:solidFill>
              </a:rPr>
              <a:t>• 多言語AIサポート起動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セキュリティ・インフラ構成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6D74"/>
                </a:solidFill>
              </a:rPr>
              <a:t>セキュリティレイヤー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HMAC-SHA256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051560"/>
            <a:ext cx="5577840" cy="5029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キャリア Webhook 署名検証（ヤマト/佐川）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09928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OAuth 1.0a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709928"/>
            <a:ext cx="5577840" cy="5029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X (Twitter) API 認証（HMAC-SHA1署名）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68296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Bearer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368296"/>
            <a:ext cx="5577840" cy="5029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RESEARCH export エンドポイント認証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26664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SHA-256 PII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3026664"/>
            <a:ext cx="5577840" cy="5029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tracking_number のハッシュ化（個人情報保護）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85032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Gate D 制約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685032"/>
            <a:ext cx="5577840" cy="5029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human_approval_required=True（変更禁止）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43400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bandit スキャン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343400"/>
            <a:ext cx="5577840" cy="5029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severity High / Medium: 0件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800"/>
                </a:solidFill>
              </a:rPr>
              <a:t>インフラ構成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051560"/>
            <a:ext cx="1737360" cy="82296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GCP Cloud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051560"/>
            <a:ext cx="182880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AAABB"/>
                </a:solidFill>
              </a:rPr>
              <a:t>3サービス デプロイ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011680"/>
            <a:ext cx="1737360" cy="82296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Artifact Registry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2011680"/>
            <a:ext cx="182880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AAABB"/>
                </a:solidFill>
              </a:rPr>
              <a:t>コンテナイメージ管理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971800"/>
            <a:ext cx="1737360" cy="82296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Cloud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2971800"/>
            <a:ext cx="182880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AAABB"/>
                </a:solidFill>
              </a:rPr>
              <a:t>PostgreSQL + AES-256 + RLS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31920"/>
            <a:ext cx="1737360" cy="822960"/>
          </a:xfrm>
          <a:prstGeom prst="roundRect">
            <a:avLst>
              <a:gd name="adj" fmla="val 3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E2Eテスト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3931920"/>
            <a:ext cx="182880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63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AAAABB"/>
                </a:solidFill>
              </a:rPr>
              <a:t>31テスト / HTTPServer ports</a:t>
            </a:r>
          </a:p>
          <a:p>
            <a:pPr algn="ctr"/>
            <a:r>
              <a:rPr sz="800" b="0">
                <a:solidFill>
                  <a:srgbClr val="AAAABB"/>
                </a:solidFill>
              </a:rPr>
              <a:t>18080 / 18081 / 18082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11612880" cy="109728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38928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コンプライアンスサマリー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SOC2準拠ガバナンス  |  RLS（行レベルセキュリティ）  |  AES-256 保存時暗号化  |  PII SHA-256ハッシュ化  |  Gate D human_approval  |  bandit 0件  |  E2E 31テスト全パス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