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6D74"/>
                </a:solidFill>
              </a:rPr>
              <a:t>NiceEze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NiceEze 自律経営執行システム v14.2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EA7DB"/>
                </a:solidFill>
              </a:rPr>
              <a:t>全体システム構成図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97680"/>
            <a:ext cx="3931920" cy="45720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</a:rPr>
              <a:t>自律型マルチエージェント経営基盤  |  5 Subsystems  |  Gate G0 → G4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システム全体マップ  —  5 Subsystems &amp; External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2194560" cy="11887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6EA7DB"/>
                </a:solidFill>
              </a:rPr>
              <a:t>RESEARCH</a:t>
            </a:r>
          </a:p>
          <a:p>
            <a:pPr algn="ctr"/>
            <a:r>
              <a:rPr sz="1000" b="0">
                <a:solidFill>
                  <a:srgbClr val="6EA7DB"/>
                </a:solidFill>
              </a:rPr>
              <a:t>:8080</a:t>
            </a:r>
          </a:p>
          <a:p>
            <a:pPr algn="ctr"/>
            <a:r>
              <a:rPr sz="1000" b="0">
                <a:solidFill>
                  <a:srgbClr val="6EA7DB"/>
                </a:solidFill>
              </a:rPr>
              <a:t>市場調査・価格分析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731520"/>
            <a:ext cx="2194560" cy="11887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C6D74"/>
                </a:solidFill>
              </a:rPr>
              <a:t>SURPLUS SHIFT</a:t>
            </a:r>
          </a:p>
          <a:p>
            <a:pPr algn="ctr"/>
            <a:r>
              <a:rPr sz="1000" b="0">
                <a:solidFill>
                  <a:srgbClr val="EC6D74"/>
                </a:solidFill>
              </a:rPr>
              <a:t>:8081</a:t>
            </a:r>
          </a:p>
          <a:p>
            <a:pPr algn="ctr"/>
            <a:r>
              <a:rPr sz="1000" b="0">
                <a:solidFill>
                  <a:srgbClr val="EC6D74"/>
                </a:solidFill>
              </a:rPr>
              <a:t>不動産余剰スペース商談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731520"/>
            <a:ext cx="2194560" cy="11887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4CAF50"/>
                </a:solidFill>
              </a:rPr>
              <a:t>MARKETING</a:t>
            </a:r>
          </a:p>
          <a:p>
            <a:pPr algn="ctr"/>
            <a:r>
              <a:rPr sz="1000" b="0">
                <a:solidFill>
                  <a:srgbClr val="4CAF50"/>
                </a:solidFill>
              </a:rPr>
              <a:t>:N/A</a:t>
            </a:r>
          </a:p>
          <a:p>
            <a:pPr algn="ctr"/>
            <a:r>
              <a:rPr sz="1000" b="0">
                <a:solidFill>
                  <a:srgbClr val="4CAF50"/>
                </a:solidFill>
              </a:rPr>
              <a:t>X投稿・コンテンツ生成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377440"/>
            <a:ext cx="2194560" cy="11887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9800"/>
                </a:solidFill>
              </a:rPr>
              <a:t>GOV</a:t>
            </a:r>
          </a:p>
          <a:p>
            <a:pPr algn="ctr"/>
            <a:r>
              <a:rPr sz="1000" b="0">
                <a:solidFill>
                  <a:srgbClr val="FF9800"/>
                </a:solidFill>
              </a:rPr>
              <a:t>:8082</a:t>
            </a:r>
          </a:p>
          <a:p>
            <a:pPr algn="ctr"/>
            <a:r>
              <a:rPr sz="1000" b="0">
                <a:solidFill>
                  <a:srgbClr val="FF9800"/>
                </a:solidFill>
              </a:rPr>
              <a:t>COOレポート・FinOps・稼働ログ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377440"/>
            <a:ext cx="2194560" cy="118872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9C27B0"/>
                </a:solidFill>
              </a:rPr>
              <a:t>SBDS</a:t>
            </a:r>
          </a:p>
          <a:p>
            <a:pPr algn="ctr"/>
            <a:r>
              <a:rPr sz="1000" b="0">
                <a:solidFill>
                  <a:srgbClr val="9C27B0"/>
                </a:solidFill>
              </a:rPr>
              <a:t>:8083</a:t>
            </a:r>
          </a:p>
          <a:p>
            <a:pPr algn="ctr"/>
            <a:r>
              <a:rPr sz="1000" b="0">
                <a:solidFill>
                  <a:srgbClr val="9C27B0"/>
                </a:solidFill>
              </a:rPr>
              <a:t>手ぶら旅行・配送管理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77724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555566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Claude API  (Anthropic)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41732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555566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X (Twitter)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05740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555566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楽天 / Yahoo! / Keepa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69748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555566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ヤマト / 佐川  Webhook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337560"/>
            <a:ext cx="3200400" cy="502920"/>
          </a:xfrm>
          <a:prstGeom prst="roundRect">
            <a:avLst>
              <a:gd name="adj" fmla="val 30000"/>
            </a:avLst>
          </a:prstGeom>
          <a:solidFill>
            <a:srgbClr val="555566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AAAABB"/>
                </a:solidFill>
              </a:rPr>
              <a:t>SmartLife IoT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658368"/>
            <a:ext cx="3291840" cy="2743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787878"/>
                </a:solidFill>
              </a:rPr>
              <a:t>External Systems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325880"/>
            <a:ext cx="365760" cy="0"/>
          </a:xfrm>
          <a:prstGeom prst="line">
            <a:avLst/>
          </a:prstGeom>
          <a:ln w="15240">
            <a:solidFill>
              <a:srgbClr val="6EA7D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94560" y="1188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市場価格データ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.0" y="1920240"/>
            <a:ext cx="5120640.0" cy="0"/>
          </a:xfrm>
          <a:prstGeom prst="line">
            <a:avLst/>
          </a:prstGeom>
          <a:ln w="15240">
            <a:solidFill>
              <a:srgbClr val="6EA7D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747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トレンド情報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26080.0" y="1920240"/>
            <a:ext cx="1005840.0" cy="457200"/>
          </a:xfrm>
          <a:prstGeom prst="line">
            <a:avLst/>
          </a:prstGeom>
          <a:ln w="15240">
            <a:solidFill>
              <a:srgbClr val="EC6D7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718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商談KPI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00400.0" y="1920240"/>
            <a:ext cx="3291840.0" cy="457200"/>
          </a:xfrm>
          <a:prstGeom prst="line">
            <a:avLst/>
          </a:prstGeom>
          <a:ln w="15240">
            <a:solidFill>
              <a:srgbClr val="4CAF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8912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投稿実績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023360" y="2971800"/>
            <a:ext cx="1371600" cy="0"/>
          </a:xfrm>
          <a:prstGeom prst="line">
            <a:avLst/>
          </a:prstGeom>
          <a:ln w="15240">
            <a:solidFill>
              <a:srgbClr val="9C27B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519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配送稼働ログ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1005840"/>
            <a:ext cx="6217920" cy="1303020"/>
          </a:xfrm>
          <a:prstGeom prst="line">
            <a:avLst/>
          </a:prstGeom>
          <a:ln w="15240">
            <a:solidFill>
              <a:srgbClr val="6EA7D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0" y="152019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価格取得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1188720"/>
            <a:ext cx="1097280" cy="480060"/>
          </a:xfrm>
          <a:prstGeom prst="line">
            <a:avLst/>
          </a:prstGeom>
          <a:ln w="15240">
            <a:solidFill>
              <a:srgbClr val="4CAF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80960" y="129159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OAuth 1.0a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589520" y="1028700"/>
            <a:ext cx="1097280" cy="1623060"/>
          </a:xfrm>
          <a:prstGeom prst="line">
            <a:avLst/>
          </a:prstGeom>
          <a:ln w="15240">
            <a:solidFill>
              <a:srgbClr val="9C27B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80960" y="170307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14言語AI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89520" y="2948940"/>
            <a:ext cx="1097280" cy="160020"/>
          </a:xfrm>
          <a:prstGeom prst="line">
            <a:avLst/>
          </a:prstGeom>
          <a:ln w="15240">
            <a:solidFill>
              <a:srgbClr val="9C27B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80960" y="289179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HMAC-SHA256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0" y="1371600"/>
            <a:ext cx="3657600" cy="2217420"/>
          </a:xfrm>
          <a:prstGeom prst="line">
            <a:avLst/>
          </a:prstGeom>
          <a:ln w="15240">
            <a:solidFill>
              <a:srgbClr val="EC6D7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0" y="234315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解錠制御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023360" y="1280160"/>
            <a:ext cx="4663440" cy="1371600"/>
          </a:xfrm>
          <a:prstGeom prst="line">
            <a:avLst/>
          </a:prstGeom>
          <a:ln w="15240">
            <a:solidFill>
              <a:srgbClr val="FF98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9788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AAABB"/>
                </a:solidFill>
              </a:rPr>
              <a:t>レポート生成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703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7878"/>
                </a:solidFill>
              </a:rPr>
              <a:t>Legend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931920"/>
            <a:ext cx="164592" cy="164592"/>
          </a:xfrm>
          <a:prstGeom prst="rect">
            <a:avLst/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3931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RESEARCH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4520" y="3931920"/>
            <a:ext cx="164592" cy="164592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5688" y="3931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SURPLUS SHIFT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931920"/>
            <a:ext cx="164592" cy="1645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75888" y="3931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MARKETING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3931920"/>
            <a:ext cx="164592" cy="1645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76088" y="3931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GOV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931920"/>
            <a:ext cx="164592" cy="16459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76288" y="39319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</a:rPr>
              <a:t>SBDS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Gate制フロー  G0 → 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" y="1005840"/>
            <a:ext cx="2103120" cy="4114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9556" y="731520"/>
            <a:ext cx="822960" cy="548640"/>
          </a:xfrm>
          <a:prstGeom prst="roundRect">
            <a:avLst>
              <a:gd name="adj" fmla="val 30000"/>
            </a:avLst>
          </a:prstGeom>
          <a:solidFill>
            <a:srgbClr val="6EA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EA7DB"/>
                </a:solidFill>
              </a:rPr>
              <a:t>組織設計・ガバナンス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" y="2103120"/>
            <a:ext cx="18836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・会社設計（定款・役員・資本政策）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・SOC2準拠ガバナンス策定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・情報管理規程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0884.0" y="3063240.0"/>
            <a:ext cx="210312.0" cy="0.0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11196" y="1005840"/>
            <a:ext cx="2103120" cy="4114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1276" y="731520"/>
            <a:ext cx="822960" cy="548640"/>
          </a:xfrm>
          <a:prstGeom prst="roundRect">
            <a:avLst>
              <a:gd name="adj" fmla="val 3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636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AF50"/>
                </a:solidFill>
              </a:rPr>
              <a:t>データ基盤・監査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0924" y="2103120"/>
            <a:ext cx="18836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・DB設計 (PostgreSQL + AES-256)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・監査ログ設計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・RLS（行レベルセキュリティ）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32604.0" y="3063240.0"/>
            <a:ext cx="210312.0" cy="0.0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42916" y="1005840"/>
            <a:ext cx="2103120" cy="4114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82996" y="731520"/>
            <a:ext cx="822960" cy="54864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4356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9800"/>
                </a:solidFill>
              </a:rPr>
              <a:t>各システム実装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2644" y="2103120"/>
            <a:ext cx="18836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・5サブシステム開発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・API実装・単体テスト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・bandit セキュリティスキャン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64324.0" y="3063240.0"/>
            <a:ext cx="210312.0" cy="0.0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74636" y="1005840"/>
            <a:ext cx="2103120" cy="4114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4716" y="731520"/>
            <a:ext cx="822960" cy="548640"/>
          </a:xfrm>
          <a:prstGeom prst="roundRect">
            <a:avLst>
              <a:gd name="adj" fmla="val 30000"/>
            </a:avLst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6076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C6D74"/>
                </a:solidFill>
              </a:rPr>
              <a:t>UAT・統合テスト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4364" y="2103120"/>
            <a:ext cx="18836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・E2Eテスト 31件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・HTTPServer ports 18080-18082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・負荷テスト・PII検証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96044.0" y="3063240.0"/>
            <a:ext cx="210312.0" cy="0.0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706356" y="1005840"/>
            <a:ext cx="2103120" cy="411480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46436" y="731520"/>
            <a:ext cx="822960" cy="548640"/>
          </a:xfrm>
          <a:prstGeom prst="roundRect">
            <a:avLst>
              <a:gd name="adj" fmla="val 3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7796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27B0"/>
                </a:solidFill>
              </a:rPr>
              <a:t>本番リリース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6084" y="2103120"/>
            <a:ext cx="18836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</a:rPr>
              <a:t>・GCP Cloud Run デプロイ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・Artifact Registry</a:t>
            </a:r>
          </a:p>
          <a:p>
            <a:pPr algn="l"/>
            <a:r>
              <a:rPr sz="900" b="0">
                <a:solidFill>
                  <a:srgbClr val="AAAABB"/>
                </a:solidFill>
              </a:rPr>
              <a:t>・監視ダッシュボード稼働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データフロー図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6D74"/>
                </a:solidFill>
              </a:rPr>
              <a:t>NiceEze v14.2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96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EA7DB"/>
                </a:solidFill>
              </a:rPr>
              <a:t>① 価格調査フロー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3996" y="123444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外部API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(楽天/Yahoo!/Keepa)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48556.0" y="1993392.0"/>
            <a:ext cx="548640.0" cy="0.0"/>
          </a:xfrm>
          <a:prstGeom prst="line">
            <a:avLst/>
          </a:prstGeom>
          <a:ln w="15240">
            <a:solidFill>
              <a:srgbClr val="6EA7D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997196" y="123444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RESEARCH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分析エンジン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91756.0" y="1993392.0"/>
            <a:ext cx="548640.0" cy="0.0"/>
          </a:xfrm>
          <a:prstGeom prst="line">
            <a:avLst/>
          </a:prstGeom>
          <a:ln w="15240">
            <a:solidFill>
              <a:srgbClr val="6EA7D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40396" y="123444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6EA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DB / Cache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価格トレンド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27B0"/>
                </a:solidFill>
              </a:rPr>
              <a:t>② 旅行者配送フロー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3996" y="278892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旅行者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QRコード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48556.0" y="3547872.0"/>
            <a:ext cx="548640.0" cy="0.0"/>
          </a:xfrm>
          <a:prstGeom prst="line">
            <a:avLst/>
          </a:prstGeom>
          <a:ln w="15240">
            <a:solidFill>
              <a:srgbClr val="9C27B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97196" y="278892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SBDS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配送管理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91756.0" y="3547872.0"/>
            <a:ext cx="548640.0" cy="0.0"/>
          </a:xfrm>
          <a:prstGeom prst="line">
            <a:avLst/>
          </a:prstGeom>
          <a:ln w="15240">
            <a:solidFill>
              <a:srgbClr val="9C27B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40396" y="278892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配送ネットワーク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(ヤマト/佐川)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6D74"/>
                </a:solidFill>
              </a:rPr>
              <a:t>③ 商談・KPIフロー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3996" y="434340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商談データ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(SURPLUS SHIFT)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48556.0" y="5102352.0"/>
            <a:ext cx="548640.0" cy="0.0"/>
          </a:xfrm>
          <a:prstGeom prst="line">
            <a:avLst/>
          </a:prstGeom>
          <a:ln w="15240">
            <a:solidFill>
              <a:srgbClr val="EC6D7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97196" y="434340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Gate D審査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human_approval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1756.0" y="5102352.0"/>
            <a:ext cx="548640.0" cy="0.0"/>
          </a:xfrm>
          <a:prstGeom prst="line">
            <a:avLst/>
          </a:prstGeom>
          <a:ln w="15240">
            <a:solidFill>
              <a:srgbClr val="EC6D7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40396" y="434340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EC6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GOV KPI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ダッシュボード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559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④ レポートフロー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3996" y="589788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各サービス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稼働ログ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48556.0" y="6656832.0"/>
            <a:ext cx="548640.0" cy="0.0"/>
          </a:xfrm>
          <a:prstGeom prst="line">
            <a:avLst/>
          </a:prstGeom>
          <a:ln w="15240">
            <a:solidFill>
              <a:srgbClr val="FF98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97196" y="589788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GOV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COOレポート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91756.0" y="6656832.0"/>
            <a:ext cx="548640.0" cy="0.0"/>
          </a:xfrm>
          <a:prstGeom prst="line">
            <a:avLst/>
          </a:prstGeom>
          <a:ln w="15240">
            <a:solidFill>
              <a:srgbClr val="FF98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740396" y="5897880"/>
            <a:ext cx="2194560" cy="822960"/>
          </a:xfrm>
          <a:prstGeom prst="roundRect">
            <a:avLst>
              <a:gd name="adj" fmla="val 30000"/>
            </a:avLst>
          </a:prstGeom>
          <a:solidFill>
            <a:srgbClr val="2228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S10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ダッシュボード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C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