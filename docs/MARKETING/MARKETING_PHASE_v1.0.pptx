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59148"/>
            <a:ext cx="10689336" cy="50800"/>
          </a:xfrm>
          <a:prstGeom prst="rect">
            <a:avLst/>
          </a:prstGeom>
          <a:solidFill>
            <a:srgbClr val="F5A6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12417"/>
            <a:ext cx="9226296" cy="264673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MARKETING部 フェーズ計画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37252"/>
            <a:ext cx="9226296" cy="1134313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F5A623"/>
                </a:solidFill>
              </a:rPr>
              <a:t>SMART-MKT マーケティング自動化システム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71566"/>
            <a:ext cx="922629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0F4F8"/>
                </a:solidFill>
              </a:rPr>
              <a:t>2026-06-05  |  © 2026 株式会社NiceEze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MARKETING部  |  フェーズ計画 v1.0  |  © 2026 株式会社NiceEze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Gate制概要  G0〜G4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SMART-MKT 開発フェーズゲート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MARKETING部  |  フェーズ計画 v1.0  |  © 2026 株式会社NiceEze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640080"/>
            <a:ext cx="1828800" cy="5303520"/>
          </a:xfrm>
          <a:prstGeom prst="rect">
            <a:avLst/>
          </a:prstGeom>
          <a:solidFill>
            <a:srgbClr val="F0F4F8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40080"/>
            <a:ext cx="1828800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836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98755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設計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801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F0F4F8"/>
                </a:solidFill>
              </a:rPr>
              <a:t>2026/07末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554480"/>
            <a:ext cx="164592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GCP環境構築
Cloud Scheduler設定
RSSカテゴリ定義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288" y="640080"/>
            <a:ext cx="1828800" cy="5303520"/>
          </a:xfrm>
          <a:prstGeom prst="rect">
            <a:avLst/>
          </a:prstGeom>
          <a:solidFill>
            <a:srgbClr val="F0F4F8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04288" y="640080"/>
            <a:ext cx="1828800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4288" y="65836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98755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テンプレートMVP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12801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F0F4F8"/>
                </a:solidFill>
              </a:rPr>
              <a:t>2026/09末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1554480"/>
            <a:ext cx="164592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4フォーマット安定生成
30テスト全Pass
スケジューラー稼働
bandit 0件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640080"/>
            <a:ext cx="1828800" cy="530352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4256" y="640080"/>
            <a:ext cx="182880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65836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98755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RSS品質向上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4256" y="12801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F0F4F8"/>
                </a:solidFill>
              </a:rPr>
              <a:t>2026/11末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5696" y="1554480"/>
            <a:ext cx="164592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ニュース選定精度向上
重複排除強化
記事スコアリング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640080"/>
            <a:ext cx="1828800" cy="5303520"/>
          </a:xfrm>
          <a:prstGeom prst="rect">
            <a:avLst/>
          </a:prstGeom>
          <a:solidFill>
            <a:srgbClr val="F0F4F8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64224" y="640080"/>
            <a:ext cx="1828800" cy="73152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65836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98755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Claude API生成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12801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F0F4F8"/>
                </a:solidFill>
              </a:rPr>
              <a:t>2027/01末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1554480"/>
            <a:ext cx="164592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Claude API品質向上
YouTube台本精度向上
note.com手動投稿導線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94192" y="640080"/>
            <a:ext cx="1828800" cy="5303520"/>
          </a:xfrm>
          <a:prstGeom prst="rect">
            <a:avLst/>
          </a:prstGeom>
          <a:solidFill>
            <a:srgbClr val="F0F4F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94192" y="640080"/>
            <a:ext cx="1828800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65836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98755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自動投稿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12801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F0F4F8"/>
                </a:solidFill>
              </a:rPr>
              <a:t>2027/03末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5632" y="1554480"/>
            <a:ext cx="164592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note.com自動投稿（判断①C）
全SNS自動配信
SLA設定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12648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1A3A5C"/>
                </a:solidFill>
              </a:rPr>
              <a:t>◀─────────────── SMART-MKT 開発ロードマップ（〜2027年3月） ───────────────▶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G1マイルストーン — テンプレートMVP（2026/09末）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4フォーマット安定生成 / 30テスト全Pass / スケジューラー稼働 / bandit 0件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MARKETING部  |  フェーズ計画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9875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G1 完了条件 / 受け入れ基準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914400"/>
          <a:ext cx="9875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104"/>
                <a:gridCol w="1975104"/>
                <a:gridCol w="1975104"/>
                <a:gridCol w="1975104"/>
                <a:gridCol w="1975104"/>
              </a:tblGrid>
              <a:tr h="457200">
                <a:tc>
                  <a:txBody>
                    <a:bodyPr/>
                    <a:lstStyle/>
                    <a:p>
                      <a:r>
                        <a:rPr b="1" sz="850"/>
                        <a:t>タスク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担当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状態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期限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費用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NewsCrawler実装（8カテゴリ RSS）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2026/08末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SHA-256 article_id生成（64文字）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2026/08末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nosec B310/B314/B405対応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2026/08末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4フォーマット生成（X/メルマガ/Note/YouTube台本）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2026/09末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X: 140文字上限カウンター実装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2026/09末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Cloud Scheduler cron設定（朝夜2回）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2026/09末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DeliveryLog実装（SHA-256 id/get_recent/summary/to_json）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2026/09末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unittest 30テスト実装・全Pass確認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2026/09末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521208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5A623"/>
                </a:solidFill>
              </a:rPr>
              <a:t>G1完了基準: 4フォーマット安定生成 / 30テスト全Pass / bandit 0件 / スケジューラー朝夜2回稼働確認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G3マイルストーン — Claude API生成（2027/01末）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Claude API品質向上 / note.com手動投稿導線 / YouTube台本精度向上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MARKETING部  |  フェーズ計画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9875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G3 完了条件 / 受け入れ基準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914400"/>
          <a:ext cx="98755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104"/>
                <a:gridCol w="1975104"/>
                <a:gridCol w="1975104"/>
                <a:gridCol w="1975104"/>
                <a:gridCol w="1975104"/>
              </a:tblGrid>
              <a:tr h="480060">
                <a:tc>
                  <a:txBody>
                    <a:bodyPr/>
                    <a:lstStyle/>
                    <a:p>
                      <a:r>
                        <a:rPr b="1" sz="850"/>
                        <a:t>タスク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担当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状態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期限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費用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800"/>
                        <a:t>Claude API統合（コンテンツ品質向上）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2026/12末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¥2,250〜¥4,500/月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800"/>
                        <a:t>X投稿: Claude API活用（より魅力的な文章）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2026/12末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API費用に含む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800"/>
                        <a:t>メルマガ: パーソナライズ強化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2027/01末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API費用に含む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800"/>
                        <a:t>YouTube台本: 構成精度向上（導入/本編/まとめ高品質化）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2027/01末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API費用に含む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800"/>
                        <a:t>note.com手動投稿導線実装（判断①C）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2027/01末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800"/>
                        <a:t>Note Markdown → note.com用フォーマット変換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2027/01末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800"/>
                        <a:t>月額コスト監視（上限¥5,000厳守）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継続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¥0（監視）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493776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5A623"/>
                </a:solidFill>
              </a:rPr>
              <a:t>G3完了基準: Claude API品質確認 / YouTube台本構成精度向上 / note.com手動投稿導線動作確認 / 月額¥5,000以内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FinOps計画 — コスト管理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G1:¥0/月 / G3:Claude API¥2,250〜¥4,500/月 / 月額上限¥5,000厳守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MARKETING部  |  フェーズ計画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フェーズ別月次コスト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91440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402336">
                <a:tc>
                  <a:txBody>
                    <a:bodyPr/>
                    <a:lstStyle/>
                    <a:p>
                      <a:r>
                        <a:rPr b="1" sz="900"/>
                        <a:t>フェーズ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月額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内訳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備考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50"/>
                        <a:t>G0〜G1（テンプレートMVP）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Google News RSS無料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AI自律開発・インフラ無料枠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50"/>
                        <a:t>G2（RSS品質向上）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Cloud Functions無料枠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RSS継続無料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50"/>
                        <a:t>G3（Claude API生成）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¥2,250〜¥4,500/月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Claude API費用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月1,000〜2,000回呼出想定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50"/>
                        <a:t>G4（自動投稿）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¥3,000〜¥5,000/月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全サービス稼働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月額上限¥5,000厳守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0" y="64008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Claude API コスト試算（G3以降）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0" y="91440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287382">
                <a:tc>
                  <a:txBody>
                    <a:bodyPr/>
                    <a:lstStyle/>
                    <a:p>
                      <a:r>
                        <a:rPr b="1" sz="900"/>
                        <a:t>用途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呼出回数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月額概算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850"/>
                        <a:t>X投稿生成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月400回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¥900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850"/>
                        <a:t>メルマガ生成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月300回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¥675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850"/>
                        <a:t>Note記事生成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月200回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¥450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850"/>
                        <a:t>YouTube台本生成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月100回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¥225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850"/>
                        <a:t>合計（標準）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月1,000回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¥2,250/月</a:t>
                      </a:r>
                    </a:p>
                  </a:txBody>
                  <a:tcPr/>
                </a:tc>
              </a:tr>
              <a:tr h="287388">
                <a:tc>
                  <a:txBody>
                    <a:bodyPr/>
                    <a:lstStyle/>
                    <a:p>
                      <a:r>
                        <a:rPr sz="850"/>
                        <a:t>上限設定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月2,000回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¥4,500/月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3108960"/>
            <a:ext cx="9875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GCP月次コスト内訳（G4 本番稼働時）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3383280"/>
          <a:ext cx="9875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91840"/>
                <a:gridCol w="3291840"/>
              </a:tblGrid>
              <a:tr h="326571">
                <a:tc>
                  <a:txBody>
                    <a:bodyPr/>
                    <a:lstStyle/>
                    <a:p>
                      <a:r>
                        <a:rPr b="1" sz="900"/>
                        <a:t>サービス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月額概算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備考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850"/>
                        <a:t>Cloud Functions（コンテンツ生成）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¥0〜¥750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無料枠200万呼出/月内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850"/>
                        <a:t>Cloud Scheduler（朝夜2回）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無料枠内（3ジョブまで）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850"/>
                        <a:t>Google News RSS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完全無料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850"/>
                        <a:t>Claude API（G3以降）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¥2,250〜¥4,500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月1,000〜2,000回呼出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850"/>
                        <a:t>Cloud Storage（ログ保存）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¥0〜¥150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5GB無料枠内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r>
                        <a:rPr sz="850"/>
                        <a:t>月額合計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¥2,250〜¥5,000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月額上限¥5,000で管理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74320" y="576072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059669"/>
                </a:solidFill>
              </a:rPr>
              <a:t>FinOps原則: AI自律開発により開発人件費¥0 / G1まで完全¥0 / G3以降Claude API費用のみ / 月額上限¥5,000厳格管理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